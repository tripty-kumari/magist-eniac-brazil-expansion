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ubik Light"/>
      <p:regular r:id="rId11"/>
      <p:bold r:id="rId12"/>
      <p:italic r:id="rId13"/>
      <p:boldItalic r:id="rId14"/>
    </p:embeddedFon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font" Target="fonts/RubikLight-regular.fntdata"/><Relationship Id="rId10" Type="http://schemas.openxmlformats.org/officeDocument/2006/relationships/slide" Target="slides/slide5.xml"/><Relationship Id="rId13" Type="http://schemas.openxmlformats.org/officeDocument/2006/relationships/font" Target="fonts/RubikLight-italic.fntdata"/><Relationship Id="rId12" Type="http://schemas.openxmlformats.org/officeDocument/2006/relationships/font" Target="fonts/Rubik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font" Target="fonts/RubikLight-boldItalic.fntdata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0a650c558_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e0a650c558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0a650c558_28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0a650c558_28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10c4ff97f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10c4ff97f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f92d42293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f92d42293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0a650c558_6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e0a650c558_6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>
  <p:cSld name="TITLE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 txBox="1"/>
          <p:nvPr>
            <p:ph type="ctrTitle"/>
          </p:nvPr>
        </p:nvSpPr>
        <p:spPr>
          <a:xfrm>
            <a:off x="224683" y="2690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Rubik Light"/>
              <a:buNone/>
              <a:defRPr sz="5200">
                <a:latin typeface="Rubik Light"/>
                <a:ea typeface="Rubik Light"/>
                <a:cs typeface="Rubik Light"/>
                <a:sym typeface="Rubi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6" name="Google Shape;27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rgbClr val="9FC5E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118750" y="1444924"/>
            <a:ext cx="4801200" cy="14160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l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Magist </a:t>
            </a:r>
            <a:r>
              <a:rPr b="1" lang="pl" sz="2000">
                <a:solidFill>
                  <a:schemeClr val="lt1"/>
                </a:solidFill>
              </a:rPr>
              <a:t>p</a:t>
            </a:r>
            <a:r>
              <a:rPr b="1" lang="pl" sz="2000">
                <a:solidFill>
                  <a:schemeClr val="lt1"/>
                </a:solidFill>
              </a:rPr>
              <a:t>otentials</a:t>
            </a:r>
            <a:r>
              <a:rPr b="1" i="0" lang="pl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❖"/>
            </a:pPr>
            <a:r>
              <a:rPr b="1" lang="pl" sz="1600">
                <a:solidFill>
                  <a:schemeClr val="lt1"/>
                </a:solidFill>
              </a:rPr>
              <a:t>Centralized order management platform</a:t>
            </a:r>
            <a:r>
              <a:rPr b="1" i="0" lang="pl" sz="1600" u="none" cap="none" strike="noStrike">
                <a:solidFill>
                  <a:schemeClr val="lt1"/>
                </a:solidFill>
              </a:rPr>
              <a:t> </a:t>
            </a:r>
            <a:r>
              <a:rPr b="1" lang="pl" sz="1200">
                <a:solidFill>
                  <a:srgbClr val="1D1C1D"/>
                </a:solidFill>
              </a:rPr>
              <a:t>✅</a:t>
            </a:r>
            <a:endParaRPr b="1" i="0" sz="2300" u="none" cap="none" strike="noStrike">
              <a:solidFill>
                <a:srgbClr val="3C78D8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❖"/>
            </a:pPr>
            <a:r>
              <a:rPr b="1" lang="pl" sz="1600">
                <a:solidFill>
                  <a:schemeClr val="lt1"/>
                </a:solidFill>
              </a:rPr>
              <a:t>Strong market position in Brazil</a:t>
            </a:r>
            <a:r>
              <a:rPr b="1" i="0" lang="pl" sz="1600" u="none" cap="none" strike="noStrike">
                <a:solidFill>
                  <a:schemeClr val="lt1"/>
                </a:solidFill>
              </a:rPr>
              <a:t>  </a:t>
            </a:r>
            <a:r>
              <a:rPr b="1" lang="pl" sz="1200">
                <a:solidFill>
                  <a:srgbClr val="1D1C1D"/>
                </a:solidFill>
              </a:rPr>
              <a:t>✅</a:t>
            </a:r>
            <a:endParaRPr b="1" i="0" sz="1600" u="none" cap="none" strike="noStrike">
              <a:solidFill>
                <a:schemeClr val="lt1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❖"/>
            </a:pPr>
            <a:r>
              <a:rPr b="1" lang="pl" sz="1600">
                <a:solidFill>
                  <a:schemeClr val="lt1"/>
                </a:solidFill>
              </a:rPr>
              <a:t>Full support for logistics &amp; after-sales</a:t>
            </a:r>
            <a:r>
              <a:rPr b="1" i="0" lang="pl" sz="1600" u="none" cap="none" strike="noStrike">
                <a:solidFill>
                  <a:schemeClr val="lt1"/>
                </a:solidFill>
              </a:rPr>
              <a:t>  </a:t>
            </a:r>
            <a:r>
              <a:rPr b="1" lang="pl" sz="1200">
                <a:solidFill>
                  <a:srgbClr val="1D1C1D"/>
                </a:solidFill>
              </a:rPr>
              <a:t>✅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970" t="0"/>
          <a:stretch/>
        </p:blipFill>
        <p:spPr>
          <a:xfrm>
            <a:off x="5054725" y="1847700"/>
            <a:ext cx="3240276" cy="197057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4"/>
          <p:cNvSpPr txBox="1"/>
          <p:nvPr/>
        </p:nvSpPr>
        <p:spPr>
          <a:xfrm>
            <a:off x="118750" y="3235649"/>
            <a:ext cx="4801200" cy="10683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000">
                <a:solidFill>
                  <a:schemeClr val="lt1"/>
                </a:solidFill>
              </a:rPr>
              <a:t>ENIAC concerns regarding magist:</a:t>
            </a:r>
            <a:endParaRPr b="1" sz="20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b="1" lang="pl" sz="1600">
                <a:solidFill>
                  <a:schemeClr val="lt1"/>
                </a:solidFill>
              </a:rPr>
              <a:t>Fit for high-end tech products </a:t>
            </a:r>
            <a:r>
              <a:rPr b="1" lang="pl" sz="1600">
                <a:solidFill>
                  <a:srgbClr val="FF0000"/>
                </a:solidFill>
              </a:rPr>
              <a:t>?</a:t>
            </a:r>
            <a:endParaRPr b="1" sz="1600">
              <a:solidFill>
                <a:srgbClr val="FF99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b="1" lang="pl" sz="1600">
                <a:solidFill>
                  <a:schemeClr val="lt1"/>
                </a:solidFill>
              </a:rPr>
              <a:t>Delivery speed performance</a:t>
            </a:r>
            <a:r>
              <a:rPr b="1" lang="pl" sz="1600">
                <a:solidFill>
                  <a:schemeClr val="lt1"/>
                </a:solidFill>
              </a:rPr>
              <a:t> </a:t>
            </a:r>
            <a:r>
              <a:rPr b="1" lang="pl" sz="1600">
                <a:solidFill>
                  <a:srgbClr val="FF0000"/>
                </a:solidFill>
              </a:rPr>
              <a:t>?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118750" y="69700"/>
            <a:ext cx="837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>
                <a:solidFill>
                  <a:schemeClr val="lt1"/>
                </a:solidFill>
              </a:rPr>
              <a:t>ENIAC Expansion to the Brazilian Market: 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is Magist a reliable partner?</a:t>
            </a:r>
            <a:r>
              <a:rPr b="1" lang="pl" sz="2500"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2500">
              <a:solidFill>
                <a:srgbClr val="D9D9D9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5060678" y="1847700"/>
            <a:ext cx="66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1"/>
                </a:solidFill>
              </a:rPr>
              <a:t>ENIAC</a:t>
            </a:r>
            <a:endParaRPr sz="600"/>
          </a:p>
        </p:txBody>
      </p:sp>
      <p:sp>
        <p:nvSpPr>
          <p:cNvPr id="286" name="Google Shape;286;p14"/>
          <p:cNvSpPr txBox="1"/>
          <p:nvPr/>
        </p:nvSpPr>
        <p:spPr>
          <a:xfrm>
            <a:off x="6879525" y="2158675"/>
            <a:ext cx="1529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1"/>
                </a:solidFill>
              </a:rPr>
              <a:t>H</a:t>
            </a:r>
            <a:r>
              <a:rPr b="1" lang="pl" sz="1200">
                <a:solidFill>
                  <a:schemeClr val="lt1"/>
                </a:solidFill>
              </a:rPr>
              <a:t>igh-end 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1"/>
                </a:solidFill>
              </a:rPr>
              <a:t>tech products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/>
        </p:nvSpPr>
        <p:spPr>
          <a:xfrm>
            <a:off x="132650" y="95437"/>
            <a:ext cx="7559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Magist's </a:t>
            </a:r>
            <a:r>
              <a:rPr b="1" lang="pl" sz="2500">
                <a:solidFill>
                  <a:schemeClr val="lt1"/>
                </a:solidFill>
              </a:rPr>
              <a:t>High-end Tech Products Overview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3325390" y="1782896"/>
            <a:ext cx="2137800" cy="8670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89">
                <a:solidFill>
                  <a:schemeClr val="lt1"/>
                </a:solidFill>
              </a:rPr>
              <a:t>Sales</a:t>
            </a:r>
            <a:endParaRPr b="1" sz="2289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10.8% </a:t>
            </a:r>
            <a:endParaRPr b="1" sz="2689">
              <a:solidFill>
                <a:schemeClr val="lt1"/>
              </a:solidFill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3325390" y="2855818"/>
            <a:ext cx="2137800" cy="8142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89">
                <a:solidFill>
                  <a:schemeClr val="lt1"/>
                </a:solidFill>
              </a:rPr>
              <a:t>Sellers</a:t>
            </a:r>
            <a:endParaRPr b="1" sz="2289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14.3%</a:t>
            </a:r>
            <a:r>
              <a:rPr b="1" lang="pl">
                <a:solidFill>
                  <a:schemeClr val="lt1"/>
                </a:solidFill>
              </a:rPr>
              <a:t> </a:t>
            </a:r>
            <a:endParaRPr b="1" sz="2289">
              <a:solidFill>
                <a:schemeClr val="lt1"/>
              </a:solidFill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3143740" y="3894731"/>
            <a:ext cx="2501100" cy="814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89">
                <a:solidFill>
                  <a:schemeClr val="lt1"/>
                </a:solidFill>
              </a:rPr>
              <a:t>O</a:t>
            </a:r>
            <a:r>
              <a:rPr b="1" lang="pl" sz="2289">
                <a:solidFill>
                  <a:schemeClr val="lt1"/>
                </a:solidFill>
              </a:rPr>
              <a:t>n-time Delivery</a:t>
            </a:r>
            <a:endParaRPr b="1" sz="2289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93% </a:t>
            </a:r>
            <a:endParaRPr b="1" sz="2689">
              <a:solidFill>
                <a:schemeClr val="lt1"/>
              </a:solidFill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5640800" y="4279625"/>
            <a:ext cx="288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13 days </a:t>
            </a:r>
            <a:r>
              <a:rPr lang="pl" sz="1300">
                <a:solidFill>
                  <a:schemeClr val="lt1"/>
                </a:solidFill>
              </a:rPr>
              <a:t>average</a:t>
            </a:r>
            <a:r>
              <a:rPr lang="pl" sz="1300">
                <a:solidFill>
                  <a:schemeClr val="lt1"/>
                </a:solidFill>
              </a:rPr>
              <a:t> delivery time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5463200" y="2013925"/>
            <a:ext cx="364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L</a:t>
            </a:r>
            <a:r>
              <a:rPr lang="pl" sz="1300">
                <a:solidFill>
                  <a:schemeClr val="lt1"/>
                </a:solidFill>
              </a:rPr>
              <a:t>e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ss 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focused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on high-end tech products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5463200" y="2970425"/>
            <a:ext cx="351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Lack of specialized sellers in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high-end tech product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8" name="Google Shape;298;p15" title="Dashboard 5.png"/>
          <p:cNvPicPr preferRelativeResize="0"/>
          <p:nvPr/>
        </p:nvPicPr>
        <p:blipFill rotWithShape="1">
          <a:blip r:embed="rId3">
            <a:alphaModFix/>
          </a:blip>
          <a:srcRect b="60915" l="30589" r="40922" t="2354"/>
          <a:stretch/>
        </p:blipFill>
        <p:spPr>
          <a:xfrm>
            <a:off x="278800" y="914663"/>
            <a:ext cx="2573750" cy="188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5" title="Dashboard 5.png"/>
          <p:cNvPicPr preferRelativeResize="0"/>
          <p:nvPr/>
        </p:nvPicPr>
        <p:blipFill rotWithShape="1">
          <a:blip r:embed="rId3">
            <a:alphaModFix/>
          </a:blip>
          <a:srcRect b="60915" l="59682" r="11829" t="2354"/>
          <a:stretch/>
        </p:blipFill>
        <p:spPr>
          <a:xfrm>
            <a:off x="278801" y="2964300"/>
            <a:ext cx="2573750" cy="18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5"/>
          <p:cNvSpPr txBox="1"/>
          <p:nvPr/>
        </p:nvSpPr>
        <p:spPr>
          <a:xfrm>
            <a:off x="3325390" y="757548"/>
            <a:ext cx="2137800" cy="8670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89">
                <a:solidFill>
                  <a:schemeClr val="lt1"/>
                </a:solidFill>
              </a:rPr>
              <a:t>Premium tech</a:t>
            </a:r>
            <a:endParaRPr b="1" sz="2289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6</a:t>
            </a:r>
            <a:r>
              <a:rPr b="1" lang="pl" sz="1800">
                <a:solidFill>
                  <a:schemeClr val="lt1"/>
                </a:solidFill>
              </a:rPr>
              <a:t>.6% </a:t>
            </a:r>
            <a:endParaRPr b="1" sz="2689">
              <a:solidFill>
                <a:schemeClr val="lt1"/>
              </a:solidFill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5463200" y="898550"/>
            <a:ext cx="347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Limited presence</a:t>
            </a:r>
            <a:r>
              <a:rPr lang="pl" sz="1300">
                <a:solidFill>
                  <a:schemeClr val="lt1"/>
                </a:solidFill>
              </a:rPr>
              <a:t> in high-end tech products categories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190775" y="1144637"/>
            <a:ext cx="2751600" cy="755700"/>
          </a:xfrm>
          <a:prstGeom prst="rect">
            <a:avLst/>
          </a:prstGeom>
          <a:noFill/>
          <a:ln cap="flat" cmpd="sng" w="9525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5640800" y="3894725"/>
            <a:ext cx="302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S</a:t>
            </a:r>
            <a:r>
              <a:rPr lang="pl" sz="1300">
                <a:solidFill>
                  <a:schemeClr val="lt1"/>
                </a:solidFill>
              </a:rPr>
              <a:t>trong delivery </a:t>
            </a:r>
            <a:r>
              <a:rPr lang="pl" sz="1300">
                <a:solidFill>
                  <a:schemeClr val="lt1"/>
                </a:solidFill>
              </a:rPr>
              <a:t>performance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 txBox="1"/>
          <p:nvPr/>
        </p:nvSpPr>
        <p:spPr>
          <a:xfrm>
            <a:off x="76800" y="48597"/>
            <a:ext cx="8990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Geographic Distribution of Orders and Sellers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542091" y="663725"/>
            <a:ext cx="7969800" cy="492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000">
                <a:solidFill>
                  <a:schemeClr val="lt1"/>
                </a:solidFill>
              </a:rPr>
              <a:t>Brazil’s richest states (MG, SP, RJ) offer strong market potential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310" name="Google Shape;310;p16"/>
          <p:cNvPicPr preferRelativeResize="0"/>
          <p:nvPr/>
        </p:nvPicPr>
        <p:blipFill rotWithShape="1">
          <a:blip r:embed="rId3">
            <a:alphaModFix/>
          </a:blip>
          <a:srcRect b="0" l="6781" r="15452" t="0"/>
          <a:stretch/>
        </p:blipFill>
        <p:spPr>
          <a:xfrm>
            <a:off x="1411800" y="1322050"/>
            <a:ext cx="2938199" cy="30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6"/>
          <p:cNvPicPr preferRelativeResize="0"/>
          <p:nvPr/>
        </p:nvPicPr>
        <p:blipFill rotWithShape="1">
          <a:blip r:embed="rId4">
            <a:alphaModFix/>
          </a:blip>
          <a:srcRect b="0" l="5384" r="15446" t="0"/>
          <a:stretch/>
        </p:blipFill>
        <p:spPr>
          <a:xfrm>
            <a:off x="4511375" y="1322050"/>
            <a:ext cx="2991126" cy="302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/>
          <p:nvPr/>
        </p:nvSpPr>
        <p:spPr>
          <a:xfrm>
            <a:off x="149692" y="0"/>
            <a:ext cx="92091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>
                <a:solidFill>
                  <a:schemeClr val="lt1"/>
                </a:solidFill>
              </a:rPr>
              <a:t>Strategic R</a:t>
            </a:r>
            <a:r>
              <a:rPr b="1" lang="pl" sz="3000">
                <a:solidFill>
                  <a:schemeClr val="lt1"/>
                </a:solidFill>
              </a:rPr>
              <a:t>ecommendation: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Should ENIAC Partner with Magist?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445025" y="3060675"/>
            <a:ext cx="8315100" cy="1541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Final recommendation: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Magist can accelerate Eniac’s entry into </a:t>
            </a:r>
            <a:r>
              <a:rPr b="1" lang="pl" sz="1800">
                <a:solidFill>
                  <a:schemeClr val="lt1"/>
                </a:solidFill>
              </a:rPr>
              <a:t>Brazilian Market</a:t>
            </a:r>
            <a:r>
              <a:rPr b="1" lang="pl" sz="1800">
                <a:solidFill>
                  <a:schemeClr val="lt1"/>
                </a:solidFill>
              </a:rPr>
              <a:t> but the partnership should be treated as a transitional strategy rather than a long-term operational solution.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18" name="Google Shape;318;p17"/>
          <p:cNvSpPr txBox="1"/>
          <p:nvPr/>
        </p:nvSpPr>
        <p:spPr>
          <a:xfrm>
            <a:off x="445025" y="1031400"/>
            <a:ext cx="8315100" cy="18069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chemeClr val="lt1"/>
                </a:solidFill>
              </a:rPr>
              <a:t>Magist can be </a:t>
            </a:r>
            <a:r>
              <a:rPr b="1" lang="pl" sz="2200">
                <a:solidFill>
                  <a:schemeClr val="lt1"/>
                </a:solidFill>
              </a:rPr>
              <a:t>a reliable partner</a:t>
            </a:r>
            <a:r>
              <a:rPr b="1" lang="pl" sz="2200">
                <a:solidFill>
                  <a:schemeClr val="lt1"/>
                </a:solidFill>
              </a:rPr>
              <a:t> for Eniac considering:</a:t>
            </a:r>
            <a:endParaRPr b="1" sz="22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b="1" lang="pl" sz="1800">
                <a:solidFill>
                  <a:schemeClr val="lt1"/>
                </a:solidFill>
              </a:rPr>
              <a:t>Limited presence in high-end tech product markets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b="1" lang="pl" sz="1800">
                <a:solidFill>
                  <a:schemeClr val="lt1"/>
                </a:solidFill>
              </a:rPr>
              <a:t>Reliable on-time delivery performance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b="1" lang="pl" sz="1800">
                <a:solidFill>
                  <a:schemeClr val="lt1"/>
                </a:solidFill>
              </a:rPr>
              <a:t>Access to major tech customers and sellers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b="1" lang="pl" sz="1800">
                <a:solidFill>
                  <a:schemeClr val="lt1"/>
                </a:solidFill>
              </a:rPr>
              <a:t>Key markets located in Brazil’s richest states (MG, SP, RJ)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2847350" y="3060675"/>
            <a:ext cx="480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"/>
          <p:cNvSpPr txBox="1"/>
          <p:nvPr>
            <p:ph type="ctrTitle"/>
          </p:nvPr>
        </p:nvSpPr>
        <p:spPr>
          <a:xfrm>
            <a:off x="842050" y="738688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pl" sz="4800"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lang="pl" sz="4800">
                <a:latin typeface="Arial"/>
                <a:ea typeface="Arial"/>
                <a:cs typeface="Arial"/>
                <a:sym typeface="Arial"/>
              </a:rPr>
              <a:t> You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